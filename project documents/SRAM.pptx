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3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03" r:id="rId10"/>
    <p:sldId id="267" r:id="rId11"/>
    <p:sldId id="305" r:id="rId12"/>
    <p:sldId id="269" r:id="rId13"/>
    <p:sldId id="271" r:id="rId14"/>
    <p:sldId id="307" r:id="rId15"/>
    <p:sldId id="315" r:id="rId16"/>
    <p:sldId id="308" r:id="rId17"/>
    <p:sldId id="266" r:id="rId18"/>
    <p:sldId id="317" r:id="rId19"/>
    <p:sldId id="319" r:id="rId20"/>
    <p:sldId id="314" r:id="rId21"/>
    <p:sldId id="318" r:id="rId22"/>
    <p:sldId id="312" r:id="rId23"/>
    <p:sldId id="313" r:id="rId24"/>
    <p:sldId id="320" r:id="rId25"/>
    <p:sldId id="321" r:id="rId26"/>
    <p:sldId id="268" r:id="rId27"/>
    <p:sldId id="270" r:id="rId28"/>
    <p:sldId id="310" r:id="rId29"/>
    <p:sldId id="311" r:id="rId30"/>
    <p:sldId id="301" r:id="rId31"/>
    <p:sldId id="309" r:id="rId32"/>
    <p:sldId id="302" r:id="rId33"/>
    <p:sldId id="306" r:id="rId3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92" d="100"/>
          <a:sy n="92" d="100"/>
        </p:scale>
        <p:origin x="114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i guddadavar" userId="f556ae6d745c8948" providerId="LiveId" clId="{0EBFE62D-AC7B-45E4-801D-C772B0708AF6}"/>
    <pc:docChg chg="undo custSel addSld modSld sldOrd">
      <pc:chgData name="Keerti guddadavar" userId="f556ae6d745c8948" providerId="LiveId" clId="{0EBFE62D-AC7B-45E4-801D-C772B0708AF6}" dt="2025-06-05T14:06:13.706" v="288"/>
      <pc:docMkLst>
        <pc:docMk/>
      </pc:docMkLst>
      <pc:sldChg chg="addSp delSp modSp">
        <pc:chgData name="Keerti guddadavar" userId="f556ae6d745c8948" providerId="LiveId" clId="{0EBFE62D-AC7B-45E4-801D-C772B0708AF6}" dt="2025-06-05T13:42:05.591" v="16" actId="478"/>
        <pc:sldMkLst>
          <pc:docMk/>
          <pc:sldMk cId="0" sldId="303"/>
        </pc:sldMkLst>
        <pc:picChg chg="add del">
          <ac:chgData name="Keerti guddadavar" userId="f556ae6d745c8948" providerId="LiveId" clId="{0EBFE62D-AC7B-45E4-801D-C772B0708AF6}" dt="2025-06-05T13:42:05.591" v="16" actId="478"/>
          <ac:picMkLst>
            <pc:docMk/>
            <pc:sldMk cId="0" sldId="303"/>
            <ac:picMk id="6" creationId="{21C3FA47-5178-39B9-D006-8C1A4058BB42}"/>
          </ac:picMkLst>
        </pc:picChg>
        <pc:picChg chg="add mod">
          <ac:chgData name="Keerti guddadavar" userId="f556ae6d745c8948" providerId="LiveId" clId="{0EBFE62D-AC7B-45E4-801D-C772B0708AF6}" dt="2025-06-05T13:42:04.816" v="15" actId="14100"/>
          <ac:picMkLst>
            <pc:docMk/>
            <pc:sldMk cId="0" sldId="303"/>
            <ac:picMk id="7" creationId="{059B87CF-72BC-4A50-BB12-26689B4EF70D}"/>
          </ac:picMkLst>
        </pc:picChg>
      </pc:sldChg>
      <pc:sldChg chg="addSp delSp modSp">
        <pc:chgData name="Keerti guddadavar" userId="f556ae6d745c8948" providerId="LiveId" clId="{0EBFE62D-AC7B-45E4-801D-C772B0708AF6}" dt="2025-06-05T13:42:47.128" v="23" actId="1076"/>
        <pc:sldMkLst>
          <pc:docMk/>
          <pc:sldMk cId="952424496" sldId="308"/>
        </pc:sldMkLst>
        <pc:picChg chg="del">
          <ac:chgData name="Keerti guddadavar" userId="f556ae6d745c8948" providerId="LiveId" clId="{0EBFE62D-AC7B-45E4-801D-C772B0708AF6}" dt="2025-06-05T13:42:21.327" v="17" actId="478"/>
          <ac:picMkLst>
            <pc:docMk/>
            <pc:sldMk cId="952424496" sldId="308"/>
            <ac:picMk id="7" creationId="{6087D1B6-D0F0-235F-7537-DA97E96EB70B}"/>
          </ac:picMkLst>
        </pc:picChg>
        <pc:picChg chg="add mod">
          <ac:chgData name="Keerti guddadavar" userId="f556ae6d745c8948" providerId="LiveId" clId="{0EBFE62D-AC7B-45E4-801D-C772B0708AF6}" dt="2025-06-05T13:42:47.128" v="23" actId="1076"/>
          <ac:picMkLst>
            <pc:docMk/>
            <pc:sldMk cId="952424496" sldId="308"/>
            <ac:picMk id="8" creationId="{75A1B1D8-8088-42A4-9044-5DA59004755B}"/>
          </ac:picMkLst>
        </pc:picChg>
      </pc:sldChg>
      <pc:sldChg chg="addSp modSp">
        <pc:chgData name="Keerti guddadavar" userId="f556ae6d745c8948" providerId="LiveId" clId="{0EBFE62D-AC7B-45E4-801D-C772B0708AF6}" dt="2025-06-05T14:01:36.748" v="201" actId="1076"/>
        <pc:sldMkLst>
          <pc:docMk/>
          <pc:sldMk cId="1699642597" sldId="312"/>
        </pc:sldMkLst>
        <pc:spChg chg="mod">
          <ac:chgData name="Keerti guddadavar" userId="f556ae6d745c8948" providerId="LiveId" clId="{0EBFE62D-AC7B-45E4-801D-C772B0708AF6}" dt="2025-06-05T14:00:30.896" v="195" actId="1076"/>
          <ac:spMkLst>
            <pc:docMk/>
            <pc:sldMk cId="1699642597" sldId="312"/>
            <ac:spMk id="2" creationId="{74D974CD-1F84-427E-9902-C120BAE9EAC7}"/>
          </ac:spMkLst>
        </pc:spChg>
        <pc:picChg chg="add mod">
          <ac:chgData name="Keerti guddadavar" userId="f556ae6d745c8948" providerId="LiveId" clId="{0EBFE62D-AC7B-45E4-801D-C772B0708AF6}" dt="2025-06-05T14:01:36.748" v="201" actId="1076"/>
          <ac:picMkLst>
            <pc:docMk/>
            <pc:sldMk cId="1699642597" sldId="312"/>
            <ac:picMk id="3" creationId="{342F0B6C-B8E3-4A0B-98DD-9F0D533199C4}"/>
          </ac:picMkLst>
        </pc:picChg>
      </pc:sldChg>
      <pc:sldChg chg="addSp modSp">
        <pc:chgData name="Keerti guddadavar" userId="f556ae6d745c8948" providerId="LiveId" clId="{0EBFE62D-AC7B-45E4-801D-C772B0708AF6}" dt="2025-06-05T14:02:53.133" v="208" actId="1076"/>
        <pc:sldMkLst>
          <pc:docMk/>
          <pc:sldMk cId="915504822" sldId="313"/>
        </pc:sldMkLst>
        <pc:spChg chg="mod">
          <ac:chgData name="Keerti guddadavar" userId="f556ae6d745c8948" providerId="LiveId" clId="{0EBFE62D-AC7B-45E4-801D-C772B0708AF6}" dt="2025-06-05T14:02:53.133" v="208" actId="1076"/>
          <ac:spMkLst>
            <pc:docMk/>
            <pc:sldMk cId="915504822" sldId="313"/>
            <ac:spMk id="2" creationId="{D7AC6AAF-DA09-4C2C-96BD-13FAC4D3AE75}"/>
          </ac:spMkLst>
        </pc:spChg>
        <pc:picChg chg="add mod">
          <ac:chgData name="Keerti guddadavar" userId="f556ae6d745c8948" providerId="LiveId" clId="{0EBFE62D-AC7B-45E4-801D-C772B0708AF6}" dt="2025-06-05T14:02:20.767" v="207" actId="1076"/>
          <ac:picMkLst>
            <pc:docMk/>
            <pc:sldMk cId="915504822" sldId="313"/>
            <ac:picMk id="3" creationId="{6655447B-FEDD-4942-B230-99E97859955B}"/>
          </ac:picMkLst>
        </pc:picChg>
      </pc:sldChg>
      <pc:sldChg chg="addSp modSp">
        <pc:chgData name="Keerti guddadavar" userId="f556ae6d745c8948" providerId="LiveId" clId="{0EBFE62D-AC7B-45E4-801D-C772B0708AF6}" dt="2025-06-05T13:48:00.872" v="105" actId="1076"/>
        <pc:sldMkLst>
          <pc:docMk/>
          <pc:sldMk cId="1044623204" sldId="314"/>
        </pc:sldMkLst>
        <pc:picChg chg="add mod">
          <ac:chgData name="Keerti guddadavar" userId="f556ae6d745c8948" providerId="LiveId" clId="{0EBFE62D-AC7B-45E4-801D-C772B0708AF6}" dt="2025-06-05T13:48:00.872" v="105" actId="1076"/>
          <ac:picMkLst>
            <pc:docMk/>
            <pc:sldMk cId="1044623204" sldId="314"/>
            <ac:picMk id="3" creationId="{D01B862E-04FE-4FB0-9CAA-E8141C6A6429}"/>
          </ac:picMkLst>
        </pc:picChg>
      </pc:sldChg>
      <pc:sldChg chg="ord">
        <pc:chgData name="Keerti guddadavar" userId="f556ae6d745c8948" providerId="LiveId" clId="{0EBFE62D-AC7B-45E4-801D-C772B0708AF6}" dt="2025-06-05T14:06:13.706" v="288"/>
        <pc:sldMkLst>
          <pc:docMk/>
          <pc:sldMk cId="3102934303" sldId="316"/>
        </pc:sldMkLst>
      </pc:sldChg>
      <pc:sldChg chg="addSp modSp add">
        <pc:chgData name="Keerti guddadavar" userId="f556ae6d745c8948" providerId="LiveId" clId="{0EBFE62D-AC7B-45E4-801D-C772B0708AF6}" dt="2025-06-05T13:45:05.594" v="62" actId="1076"/>
        <pc:sldMkLst>
          <pc:docMk/>
          <pc:sldMk cId="3395089523" sldId="317"/>
        </pc:sldMkLst>
        <pc:spChg chg="mod">
          <ac:chgData name="Keerti guddadavar" userId="f556ae6d745c8948" providerId="LiveId" clId="{0EBFE62D-AC7B-45E4-801D-C772B0708AF6}" dt="2025-06-05T13:45:05.594" v="62" actId="1076"/>
          <ac:spMkLst>
            <pc:docMk/>
            <pc:sldMk cId="3395089523" sldId="317"/>
            <ac:spMk id="2" creationId="{A8A0D7EE-DF82-4D67-B2BF-81D48FBA9C4F}"/>
          </ac:spMkLst>
        </pc:spChg>
        <pc:picChg chg="add mod">
          <ac:chgData name="Keerti guddadavar" userId="f556ae6d745c8948" providerId="LiveId" clId="{0EBFE62D-AC7B-45E4-801D-C772B0708AF6}" dt="2025-06-05T13:44:54.340" v="61" actId="1076"/>
          <ac:picMkLst>
            <pc:docMk/>
            <pc:sldMk cId="3395089523" sldId="317"/>
            <ac:picMk id="3" creationId="{BA47B1B3-2337-4ED5-A7B2-8BECA5006C89}"/>
          </ac:picMkLst>
        </pc:picChg>
      </pc:sldChg>
      <pc:sldChg chg="addSp modSp add ord">
        <pc:chgData name="Keerti guddadavar" userId="f556ae6d745c8948" providerId="LiveId" clId="{0EBFE62D-AC7B-45E4-801D-C772B0708AF6}" dt="2025-06-05T13:49:39.298" v="144" actId="14100"/>
        <pc:sldMkLst>
          <pc:docMk/>
          <pc:sldMk cId="2790859515" sldId="318"/>
        </pc:sldMkLst>
        <pc:spChg chg="mod">
          <ac:chgData name="Keerti guddadavar" userId="f556ae6d745c8948" providerId="LiveId" clId="{0EBFE62D-AC7B-45E4-801D-C772B0708AF6}" dt="2025-06-05T13:49:14.722" v="139" actId="1076"/>
          <ac:spMkLst>
            <pc:docMk/>
            <pc:sldMk cId="2790859515" sldId="318"/>
            <ac:spMk id="2" creationId="{C1C9991E-EC11-4D35-90DA-0E3810C9AC3E}"/>
          </ac:spMkLst>
        </pc:spChg>
        <pc:picChg chg="add mod">
          <ac:chgData name="Keerti guddadavar" userId="f556ae6d745c8948" providerId="LiveId" clId="{0EBFE62D-AC7B-45E4-801D-C772B0708AF6}" dt="2025-06-05T13:49:39.298" v="144" actId="14100"/>
          <ac:picMkLst>
            <pc:docMk/>
            <pc:sldMk cId="2790859515" sldId="318"/>
            <ac:picMk id="3" creationId="{809A04B0-2D62-483B-B4CB-F324098075CD}"/>
          </ac:picMkLst>
        </pc:picChg>
      </pc:sldChg>
      <pc:sldChg chg="addSp modSp add ord">
        <pc:chgData name="Keerti guddadavar" userId="f556ae6d745c8948" providerId="LiveId" clId="{0EBFE62D-AC7B-45E4-801D-C772B0708AF6}" dt="2025-06-05T13:46:49.863" v="99" actId="14100"/>
        <pc:sldMkLst>
          <pc:docMk/>
          <pc:sldMk cId="1969400833" sldId="319"/>
        </pc:sldMkLst>
        <pc:spChg chg="mod">
          <ac:chgData name="Keerti guddadavar" userId="f556ae6d745c8948" providerId="LiveId" clId="{0EBFE62D-AC7B-45E4-801D-C772B0708AF6}" dt="2025-06-05T13:46:21.583" v="94" actId="1076"/>
          <ac:spMkLst>
            <pc:docMk/>
            <pc:sldMk cId="1969400833" sldId="319"/>
            <ac:spMk id="2" creationId="{413BA8AE-3451-40D1-A45E-177094A9F7D5}"/>
          </ac:spMkLst>
        </pc:spChg>
        <pc:picChg chg="add mod">
          <ac:chgData name="Keerti guddadavar" userId="f556ae6d745c8948" providerId="LiveId" clId="{0EBFE62D-AC7B-45E4-801D-C772B0708AF6}" dt="2025-06-05T13:46:49.863" v="99" actId="14100"/>
          <ac:picMkLst>
            <pc:docMk/>
            <pc:sldMk cId="1969400833" sldId="319"/>
            <ac:picMk id="3" creationId="{20DAF036-32B5-46C7-A297-2ABAF526F7D2}"/>
          </ac:picMkLst>
        </pc:picChg>
      </pc:sldChg>
      <pc:sldChg chg="addSp modSp add">
        <pc:chgData name="Keerti guddadavar" userId="f556ae6d745c8948" providerId="LiveId" clId="{0EBFE62D-AC7B-45E4-801D-C772B0708AF6}" dt="2025-06-05T14:04:48.448" v="250" actId="1076"/>
        <pc:sldMkLst>
          <pc:docMk/>
          <pc:sldMk cId="1260407680" sldId="320"/>
        </pc:sldMkLst>
        <pc:spChg chg="mod">
          <ac:chgData name="Keerti guddadavar" userId="f556ae6d745c8948" providerId="LiveId" clId="{0EBFE62D-AC7B-45E4-801D-C772B0708AF6}" dt="2025-06-05T14:04:10.966" v="240" actId="1076"/>
          <ac:spMkLst>
            <pc:docMk/>
            <pc:sldMk cId="1260407680" sldId="320"/>
            <ac:spMk id="2" creationId="{02C4E48C-A001-474D-85F4-5B07D67F078C}"/>
          </ac:spMkLst>
        </pc:spChg>
        <pc:picChg chg="add mod">
          <ac:chgData name="Keerti guddadavar" userId="f556ae6d745c8948" providerId="LiveId" clId="{0EBFE62D-AC7B-45E4-801D-C772B0708AF6}" dt="2025-06-05T14:04:48.448" v="250" actId="1076"/>
          <ac:picMkLst>
            <pc:docMk/>
            <pc:sldMk cId="1260407680" sldId="320"/>
            <ac:picMk id="3" creationId="{F38A7DCC-6345-4CD3-85FA-687CABF5EDEC}"/>
          </ac:picMkLst>
        </pc:picChg>
      </pc:sldChg>
      <pc:sldChg chg="addSp modSp add">
        <pc:chgData name="Keerti guddadavar" userId="f556ae6d745c8948" providerId="LiveId" clId="{0EBFE62D-AC7B-45E4-801D-C772B0708AF6}" dt="2025-06-05T14:05:59.230" v="287" actId="1076"/>
        <pc:sldMkLst>
          <pc:docMk/>
          <pc:sldMk cId="4132166514" sldId="321"/>
        </pc:sldMkLst>
        <pc:spChg chg="mod">
          <ac:chgData name="Keerti guddadavar" userId="f556ae6d745c8948" providerId="LiveId" clId="{0EBFE62D-AC7B-45E4-801D-C772B0708AF6}" dt="2025-06-05T14:05:23.191" v="281" actId="1076"/>
          <ac:spMkLst>
            <pc:docMk/>
            <pc:sldMk cId="4132166514" sldId="321"/>
            <ac:spMk id="2" creationId="{923E2D99-2CA5-4304-B7BB-941EEE4A706C}"/>
          </ac:spMkLst>
        </pc:spChg>
        <pc:picChg chg="add mod">
          <ac:chgData name="Keerti guddadavar" userId="f556ae6d745c8948" providerId="LiveId" clId="{0EBFE62D-AC7B-45E4-801D-C772B0708AF6}" dt="2025-06-05T14:05:59.230" v="287" actId="1076"/>
          <ac:picMkLst>
            <pc:docMk/>
            <pc:sldMk cId="4132166514" sldId="321"/>
            <ac:picMk id="3" creationId="{2748B769-21CC-4929-8881-E70ABD3A3AEA}"/>
          </ac:picMkLst>
        </pc:picChg>
      </pc:sldChg>
      <pc:sldChg chg="add">
        <pc:chgData name="Keerti guddadavar" userId="f556ae6d745c8948" providerId="LiveId" clId="{0EBFE62D-AC7B-45E4-801D-C772B0708AF6}" dt="2025-06-05T14:03:10.360" v="211"/>
        <pc:sldMkLst>
          <pc:docMk/>
          <pc:sldMk cId="4229184365" sldId="3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2338" y="87020"/>
            <a:ext cx="7999323" cy="15578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094" y="2674111"/>
            <a:ext cx="7919720" cy="381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68953" y="6464680"/>
            <a:ext cx="200469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55634" y="6464680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6317" y="4697095"/>
            <a:ext cx="252984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Under</a:t>
            </a:r>
            <a:r>
              <a:rPr sz="22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guidance</a:t>
            </a:r>
            <a:r>
              <a:rPr sz="22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latin typeface="Times New Roman"/>
                <a:cs typeface="Times New Roman"/>
              </a:rPr>
              <a:t>Dr.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0" dirty="0">
                <a:latin typeface="Times New Roman"/>
                <a:cs typeface="Times New Roman"/>
              </a:rPr>
              <a:t>V.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Viraktamath </a:t>
            </a: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E&amp;CE.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26" y="258952"/>
            <a:ext cx="1386840" cy="142724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93875" y="87020"/>
            <a:ext cx="639191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4695" marR="5080" indent="-722630">
              <a:lnSpc>
                <a:spcPct val="106800"/>
              </a:lnSpc>
              <a:spcBef>
                <a:spcPts val="100"/>
              </a:spcBef>
              <a:tabLst>
                <a:tab pos="3388360" algn="l"/>
              </a:tabLst>
            </a:pPr>
            <a:r>
              <a:rPr sz="2800" dirty="0">
                <a:solidFill>
                  <a:srgbClr val="3333CC"/>
                </a:solidFill>
              </a:rPr>
              <a:t>SDM</a:t>
            </a:r>
            <a:r>
              <a:rPr sz="2800" spc="-50" dirty="0">
                <a:solidFill>
                  <a:srgbClr val="3333CC"/>
                </a:solidFill>
              </a:rPr>
              <a:t> </a:t>
            </a:r>
            <a:r>
              <a:rPr sz="2800" dirty="0">
                <a:solidFill>
                  <a:srgbClr val="3333CC"/>
                </a:solidFill>
              </a:rPr>
              <a:t>COLLEGE</a:t>
            </a:r>
            <a:r>
              <a:rPr sz="2800" spc="-25" dirty="0">
                <a:solidFill>
                  <a:srgbClr val="3333CC"/>
                </a:solidFill>
              </a:rPr>
              <a:t> </a:t>
            </a:r>
            <a:r>
              <a:rPr sz="2800" dirty="0">
                <a:solidFill>
                  <a:srgbClr val="3333CC"/>
                </a:solidFill>
              </a:rPr>
              <a:t>OF</a:t>
            </a:r>
            <a:r>
              <a:rPr sz="2800" spc="-45" dirty="0">
                <a:solidFill>
                  <a:srgbClr val="3333CC"/>
                </a:solidFill>
              </a:rPr>
              <a:t> </a:t>
            </a:r>
            <a:r>
              <a:rPr sz="2800" spc="-20" dirty="0">
                <a:solidFill>
                  <a:srgbClr val="3333CC"/>
                </a:solidFill>
              </a:rPr>
              <a:t>ENGINEERING</a:t>
            </a:r>
            <a:r>
              <a:rPr sz="2800" spc="-145" dirty="0">
                <a:solidFill>
                  <a:srgbClr val="3333CC"/>
                </a:solidFill>
              </a:rPr>
              <a:t> </a:t>
            </a:r>
            <a:r>
              <a:rPr sz="2800" spc="-25" dirty="0">
                <a:solidFill>
                  <a:srgbClr val="3333CC"/>
                </a:solidFill>
              </a:rPr>
              <a:t>AND </a:t>
            </a:r>
            <a:r>
              <a:rPr sz="2800" spc="-10" dirty="0">
                <a:solidFill>
                  <a:srgbClr val="3333CC"/>
                </a:solidFill>
              </a:rPr>
              <a:t>TECHNOLOGY,</a:t>
            </a:r>
            <a:r>
              <a:rPr sz="2800" dirty="0">
                <a:solidFill>
                  <a:srgbClr val="3333CC"/>
                </a:solidFill>
              </a:rPr>
              <a:t>	</a:t>
            </a:r>
            <a:r>
              <a:rPr sz="2800" spc="-20" dirty="0">
                <a:solidFill>
                  <a:srgbClr val="3333CC"/>
                </a:solidFill>
              </a:rPr>
              <a:t>Dharwad-</a:t>
            </a:r>
            <a:r>
              <a:rPr sz="2800" spc="-10" dirty="0">
                <a:solidFill>
                  <a:srgbClr val="3333CC"/>
                </a:solidFill>
              </a:rPr>
              <a:t>580002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818258" y="1015746"/>
            <a:ext cx="6341110" cy="2347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0" marR="5080" indent="-1835150">
              <a:lnSpc>
                <a:spcPct val="106700"/>
              </a:lnSpc>
              <a:spcBef>
                <a:spcPts val="100"/>
              </a:spcBef>
            </a:pP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(An</a:t>
            </a:r>
            <a:r>
              <a:rPr sz="1800" spc="-5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autonomous</a:t>
            </a:r>
            <a:r>
              <a:rPr sz="1800" spc="-15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Institution</a:t>
            </a:r>
            <a:r>
              <a:rPr sz="1800" spc="-25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affiliated</a:t>
            </a:r>
            <a:r>
              <a:rPr sz="1800" spc="-40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to</a:t>
            </a:r>
            <a:r>
              <a:rPr sz="1800" spc="420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04A1D"/>
                </a:solidFill>
                <a:latin typeface="Times New Roman"/>
                <a:cs typeface="Times New Roman"/>
              </a:rPr>
              <a:t>Visvesvaraya</a:t>
            </a:r>
            <a:r>
              <a:rPr sz="1800" spc="-70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4A1D"/>
                </a:solidFill>
                <a:latin typeface="Times New Roman"/>
                <a:cs typeface="Times New Roman"/>
              </a:rPr>
              <a:t>Technological University,</a:t>
            </a:r>
            <a:r>
              <a:rPr sz="1800" spc="-55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Belagavi</a:t>
            </a:r>
            <a:r>
              <a:rPr sz="1800" spc="-40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4A1D"/>
                </a:solidFill>
                <a:latin typeface="Times New Roman"/>
                <a:cs typeface="Times New Roman"/>
              </a:rPr>
              <a:t>–</a:t>
            </a:r>
            <a:r>
              <a:rPr sz="1800" spc="-20" dirty="0">
                <a:solidFill>
                  <a:srgbClr val="004A1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4A1D"/>
                </a:solidFill>
                <a:latin typeface="Times New Roman"/>
                <a:cs typeface="Times New Roman"/>
              </a:rPr>
              <a:t>590018)</a:t>
            </a:r>
            <a:endParaRPr sz="1800" dirty="0">
              <a:latin typeface="Times New Roman"/>
              <a:cs typeface="Times New Roman"/>
            </a:endParaRPr>
          </a:p>
          <a:p>
            <a:pPr marR="826769" algn="ctr">
              <a:lnSpc>
                <a:spcPct val="100000"/>
              </a:lnSpc>
              <a:spcBef>
                <a:spcPts val="1500"/>
              </a:spcBef>
            </a:pPr>
            <a:r>
              <a:rPr sz="2400" dirty="0">
                <a:solidFill>
                  <a:srgbClr val="2E5496"/>
                </a:solidFill>
                <a:latin typeface="Times New Roman"/>
                <a:cs typeface="Times New Roman"/>
              </a:rPr>
              <a:t>Project</a:t>
            </a:r>
            <a:r>
              <a:rPr sz="2400" spc="-20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5496"/>
                </a:solidFill>
                <a:latin typeface="Times New Roman"/>
                <a:cs typeface="Times New Roman"/>
              </a:rPr>
              <a:t>entitled</a:t>
            </a:r>
            <a:r>
              <a:rPr sz="2400" spc="-4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E5496"/>
                </a:solidFill>
                <a:latin typeface="Times New Roman"/>
                <a:cs typeface="Times New Roman"/>
              </a:rPr>
              <a:t>by</a:t>
            </a:r>
            <a:endParaRPr sz="2400" dirty="0">
              <a:latin typeface="Times New Roman"/>
              <a:cs typeface="Times New Roman"/>
            </a:endParaRPr>
          </a:p>
          <a:p>
            <a:pPr marR="824230" algn="ctr">
              <a:lnSpc>
                <a:spcPct val="100000"/>
              </a:lnSpc>
            </a:pPr>
            <a:r>
              <a:rPr sz="2400" dirty="0">
                <a:solidFill>
                  <a:srgbClr val="2E5496"/>
                </a:solidFill>
                <a:latin typeface="Times New Roman"/>
                <a:cs typeface="Times New Roman"/>
              </a:rPr>
              <a:t>“</a:t>
            </a:r>
            <a:r>
              <a:rPr lang="en-US" sz="2400" dirty="0">
                <a:solidFill>
                  <a:srgbClr val="2E5496"/>
                </a:solidFill>
                <a:latin typeface="Times New Roman"/>
                <a:cs typeface="Times New Roman"/>
              </a:rPr>
              <a:t>SENSE  AMPLIFIER FOR MEMORY READ AND WRITE</a:t>
            </a:r>
            <a:r>
              <a:rPr sz="2400" spc="-10" dirty="0">
                <a:solidFill>
                  <a:srgbClr val="2E5496"/>
                </a:solidFill>
                <a:latin typeface="Times New Roman"/>
                <a:cs typeface="Times New Roman"/>
              </a:rPr>
              <a:t>”</a:t>
            </a:r>
            <a:endParaRPr sz="2400" dirty="0">
              <a:latin typeface="Times New Roman"/>
              <a:cs typeface="Times New Roman"/>
            </a:endParaRPr>
          </a:p>
          <a:p>
            <a:pPr marR="814069"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TEAM</a:t>
            </a:r>
            <a:r>
              <a:rPr sz="22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PROJECT</a:t>
            </a:r>
            <a:r>
              <a:rPr sz="2200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0407" y="3218815"/>
            <a:ext cx="2451735" cy="1398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14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99300"/>
              </a:lnSpc>
              <a:spcBef>
                <a:spcPts val="114"/>
              </a:spcBef>
            </a:pPr>
            <a:r>
              <a:rPr sz="1800" dirty="0">
                <a:latin typeface="Times New Roman"/>
                <a:cs typeface="Times New Roman"/>
              </a:rPr>
              <a:t>Anusha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Hiremath </a:t>
            </a:r>
            <a:r>
              <a:rPr sz="1800" dirty="0">
                <a:latin typeface="Times New Roman"/>
                <a:cs typeface="Times New Roman"/>
              </a:rPr>
              <a:t>Diksha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Bevinakatti </a:t>
            </a:r>
            <a:r>
              <a:rPr sz="1800" dirty="0">
                <a:latin typeface="Times New Roman"/>
                <a:cs typeface="Times New Roman"/>
              </a:rPr>
              <a:t>Gadigemma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Neelagund </a:t>
            </a:r>
            <a:r>
              <a:rPr sz="1800" dirty="0">
                <a:latin typeface="Times New Roman"/>
                <a:cs typeface="Times New Roman"/>
              </a:rPr>
              <a:t>Keerti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Guddadavar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85384" y="3218815"/>
            <a:ext cx="1624330" cy="1395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  <a:tabLst>
                <a:tab pos="320675" algn="l"/>
              </a:tabLst>
            </a:pPr>
            <a:endParaRPr lang="en-US" sz="1800" spc="-5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00"/>
              </a:spcBef>
              <a:tabLst>
                <a:tab pos="320675" algn="l"/>
              </a:tabLst>
            </a:pPr>
            <a:r>
              <a:rPr sz="1800" spc="-5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2SD22EC012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7500" algn="l"/>
              </a:tabLst>
            </a:pPr>
            <a:r>
              <a:rPr sz="1800" spc="-5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2SD22EC021</a:t>
            </a:r>
            <a:endParaRPr sz="1800" dirty="0">
              <a:latin typeface="Times New Roman"/>
              <a:cs typeface="Times New Roman"/>
            </a:endParaRPr>
          </a:p>
          <a:p>
            <a:pPr marL="36830">
              <a:lnSpc>
                <a:spcPts val="2135"/>
              </a:lnSpc>
              <a:tabLst>
                <a:tab pos="341630" algn="l"/>
              </a:tabLst>
            </a:pPr>
            <a:r>
              <a:rPr sz="1800" spc="-5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2SD22EC022</a:t>
            </a:r>
            <a:endParaRPr sz="1800" dirty="0">
              <a:latin typeface="Times New Roman"/>
              <a:cs typeface="Times New Roman"/>
            </a:endParaRPr>
          </a:p>
          <a:p>
            <a:pPr marL="17145">
              <a:lnSpc>
                <a:spcPts val="2135"/>
              </a:lnSpc>
              <a:tabLst>
                <a:tab pos="321945" algn="l"/>
              </a:tabLst>
            </a:pPr>
            <a:r>
              <a:rPr sz="1800" spc="-5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2SD22EC028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071" y="399033"/>
            <a:ext cx="21507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1590" y="1076705"/>
            <a:ext cx="272034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69240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buFont typeface="Arial MT"/>
              <a:buChar char="•"/>
              <a:tabLst>
                <a:tab pos="269240" algn="l"/>
              </a:tabLst>
            </a:pPr>
            <a:r>
              <a:rPr sz="2800" spc="-10" dirty="0">
                <a:latin typeface="Times New Roman"/>
                <a:cs typeface="Times New Roman"/>
              </a:rPr>
              <a:t>Motivation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buFont typeface="Arial MT"/>
              <a:buChar char="•"/>
              <a:tabLst>
                <a:tab pos="269240" algn="l"/>
              </a:tabLst>
            </a:pP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buFont typeface="Arial MT"/>
              <a:buChar char="•"/>
              <a:tabLst>
                <a:tab pos="269240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buFont typeface="Arial MT"/>
              <a:buChar char="•"/>
              <a:tabLst>
                <a:tab pos="26924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Results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9240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5876" y="555751"/>
            <a:ext cx="31007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116" y="1634108"/>
            <a:ext cx="7259955" cy="36875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 Amplifier is a circuit that amplifies small voltage differences.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 for reliable and fast data retrieval in memory systems.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in SRAM, DRAM, and Flash memory.</a:t>
            </a:r>
          </a:p>
          <a:p>
            <a:pPr marL="467995" marR="5715" indent="-4552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1" y="398526"/>
            <a:ext cx="25279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585" y="1337310"/>
            <a:ext cx="728408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359" marR="9525" indent="-4552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DCA5CB0-E479-41B9-5B68-3031B66DDE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" y="-826264"/>
            <a:ext cx="82296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Enhancement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Improves read/write access time by quickly sensing small voltage differences in memory cells.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Efficiency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Reduces power consumption during memory operations by minimizing active components and operation time.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Essential for high-density memories (SRAM, DRAM, Flash) as technology nodes shrink and bit lines become noisier.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Versatility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Crucial for supporting various memory architectures and applications like cache, embedded systems, and mobile devices.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8348" y="475614"/>
            <a:ext cx="24237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321003"/>
            <a:ext cx="7125970" cy="477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5600" algn="l"/>
                <a:tab pos="1708785" algn="l"/>
                <a:tab pos="2566670" algn="l"/>
                <a:tab pos="4427855" algn="l"/>
                <a:tab pos="4930775" algn="l"/>
                <a:tab pos="6520815" algn="l"/>
              </a:tabLst>
            </a:pPr>
            <a:r>
              <a:rPr sz="2800" spc="-10" dirty="0">
                <a:latin typeface="Times New Roman"/>
                <a:cs typeface="Times New Roman"/>
              </a:rPr>
              <a:t>Design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implement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lang="en-US" sz="2800" spc="-5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sense amplifier for memory read and write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Cadence</a:t>
            </a:r>
            <a:r>
              <a:rPr lang="en-US"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Tool.</a:t>
            </a:r>
            <a:endParaRPr sz="2800" dirty="0">
              <a:latin typeface="Times New Roman"/>
              <a:cs typeface="Times New Roman"/>
            </a:endParaRPr>
          </a:p>
          <a:p>
            <a:pPr marL="469265" marR="6350" indent="-4572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5600" algn="l"/>
                <a:tab pos="1960245" algn="l"/>
                <a:tab pos="2816860" algn="l"/>
                <a:tab pos="4147820" algn="l"/>
                <a:tab pos="6598284" algn="l"/>
              </a:tabLst>
            </a:pPr>
            <a:r>
              <a:rPr sz="2800" spc="-10" dirty="0">
                <a:latin typeface="Times New Roman"/>
                <a:cs typeface="Times New Roman"/>
              </a:rPr>
              <a:t>Analyze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circuit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characteristics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lang="en-IN"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performance.</a:t>
            </a:r>
            <a:endParaRPr sz="28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Design an efficient sense amplifier to accurately detect and amplify small voltage differences during memory read operations. </a:t>
            </a:r>
          </a:p>
          <a:p>
            <a:pPr marL="457200" indent="-457200" algn="just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Ensure high speed and low power performance for fast and energy-efficient memory access. </a:t>
            </a:r>
            <a:endParaRPr sz="2800" dirty="0">
              <a:latin typeface="Times New Roman"/>
              <a:cs typeface="Times New Roman"/>
            </a:endParaRPr>
          </a:p>
          <a:p>
            <a:pPr marL="12065" marR="6350">
              <a:lnSpc>
                <a:spcPct val="100000"/>
              </a:lnSpc>
              <a:tabLst>
                <a:tab pos="355600" algn="l"/>
                <a:tab pos="1614170" algn="l"/>
                <a:tab pos="3225800" algn="l"/>
                <a:tab pos="3911600" algn="l"/>
                <a:tab pos="5107940" algn="l"/>
                <a:tab pos="5595620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0010" y="551433"/>
            <a:ext cx="4180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LITERATURE</a:t>
            </a:r>
            <a:r>
              <a:rPr spc="-100" dirty="0"/>
              <a:t> </a:t>
            </a:r>
            <a:r>
              <a:rPr spc="-3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890" y="1403985"/>
            <a:ext cx="7027545" cy="39158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57200" algn="just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compares different CMOS sense amplifiers based on delay and power performance hybrid mode sense amplifier is found to be the most efficient for high-speed, low-power memory operations.</a:t>
            </a:r>
          </a:p>
          <a:p>
            <a:pPr marL="457200" indent="-457200" algn="just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 amplifiers play a critical role in SRAM performance, influencing both speed and power efficiency.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338" y="87020"/>
            <a:ext cx="8343062" cy="1494742"/>
          </a:xfrm>
          <a:prstGeom prst="rect">
            <a:avLst/>
          </a:prstGeom>
        </p:spPr>
        <p:txBody>
          <a:bodyPr vert="horz" wrap="square" lIns="0" tIns="504926" rIns="0" bIns="0" rtlCol="0">
            <a:spAutoFit/>
          </a:bodyPr>
          <a:lstStyle/>
          <a:p>
            <a:pPr marL="47498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SIGNIFICANCE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USING</a:t>
            </a:r>
            <a:r>
              <a:rPr lang="en-IN" spc="-15" dirty="0"/>
              <a:t> SENSE</a:t>
            </a:r>
            <a:r>
              <a:rPr lang="en-US" spc="-180" dirty="0"/>
              <a:t> </a:t>
            </a:r>
            <a:r>
              <a:rPr lang="en-US" spc="-10" dirty="0"/>
              <a:t>AMPLIFIER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02030" y="1940128"/>
            <a:ext cx="7754620" cy="395165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527050" marR="6985" indent="-514350" algn="just">
              <a:lnSpc>
                <a:spcPct val="100899"/>
              </a:lnSpc>
              <a:spcBef>
                <a:spcPts val="65"/>
              </a:spcBef>
              <a:buFont typeface="Arial" panose="020B0604020202020204" pitchFamily="34" charset="0"/>
              <a:buChar char="•"/>
              <a:tabLst>
                <a:tab pos="355600" algn="l"/>
                <a:tab pos="434340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Fast Read Operations: Enable quick data retrieval by amplifying small voltage differences on bit lines.</a:t>
            </a:r>
          </a:p>
          <a:p>
            <a:pPr marL="527050" marR="6985" indent="-514350" algn="just">
              <a:lnSpc>
                <a:spcPct val="100899"/>
              </a:lnSpc>
              <a:spcBef>
                <a:spcPts val="65"/>
              </a:spcBef>
              <a:buFont typeface="Arial" panose="020B0604020202020204" pitchFamily="34" charset="0"/>
              <a:buChar char="•"/>
              <a:tabLst>
                <a:tab pos="355600" algn="l"/>
                <a:tab pos="434340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marL="527050" marR="6985" indent="-514350" algn="just">
              <a:lnSpc>
                <a:spcPct val="100899"/>
              </a:lnSpc>
              <a:spcBef>
                <a:spcPts val="65"/>
              </a:spcBef>
              <a:buFont typeface="Arial" panose="020B0604020202020204" pitchFamily="34" charset="0"/>
              <a:buChar char="•"/>
              <a:tabLst>
                <a:tab pos="355600" algn="l"/>
                <a:tab pos="434340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Low Power Consumption: Minimize power usage by reducing bit line charging/discharging.</a:t>
            </a:r>
          </a:p>
          <a:p>
            <a:pPr marL="527050" marR="6985" indent="-514350" algn="just">
              <a:lnSpc>
                <a:spcPct val="100899"/>
              </a:lnSpc>
              <a:spcBef>
                <a:spcPts val="65"/>
              </a:spcBef>
              <a:buFont typeface="Arial" panose="020B0604020202020204" pitchFamily="34" charset="0"/>
              <a:buChar char="•"/>
              <a:tabLst>
                <a:tab pos="355600" algn="l"/>
                <a:tab pos="434340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marL="527050" marR="6985" indent="-514350" algn="just">
              <a:lnSpc>
                <a:spcPct val="100899"/>
              </a:lnSpc>
              <a:spcBef>
                <a:spcPts val="65"/>
              </a:spcBef>
              <a:buFont typeface="Arial" panose="020B0604020202020204" pitchFamily="34" charset="0"/>
              <a:buChar char="•"/>
              <a:tabLst>
                <a:tab pos="355600" algn="l"/>
                <a:tab pos="434340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Enhanced Sensitivity: Detect small voltage changes for accurate data sensing.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901700" y="1998979"/>
            <a:ext cx="7204075" cy="3561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0" indent="-514350" algn="just">
              <a:lnSpc>
                <a:spcPct val="1000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Data Integrity: Ensure reliable data access, especially in low-voltage designs.</a:t>
            </a:r>
          </a:p>
          <a:p>
            <a:pPr marL="514350" indent="-514350" algn="just">
              <a:lnSpc>
                <a:spcPct val="1000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Supports Memory Scaling: Essential for high-density, low-voltage memory designs.</a:t>
            </a:r>
          </a:p>
          <a:p>
            <a:pPr marL="514350" indent="-514350" algn="just">
              <a:lnSpc>
                <a:spcPct val="1000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6Write Assist: Some designs use sense amplifiers to assist in reliable write operations.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2338" y="87020"/>
            <a:ext cx="7999323" cy="1559631"/>
          </a:xfrm>
          <a:prstGeom prst="rect">
            <a:avLst/>
          </a:prstGeom>
        </p:spPr>
        <p:txBody>
          <a:bodyPr vert="horz" wrap="square" lIns="0" tIns="569188" rIns="0" bIns="0" rtlCol="0">
            <a:spAutoFit/>
          </a:bodyPr>
          <a:lstStyle/>
          <a:p>
            <a:pPr marL="34163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SIGNIFICANCE</a:t>
            </a:r>
            <a:r>
              <a:rPr spc="-2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USING</a:t>
            </a:r>
            <a:r>
              <a:rPr spc="-10" dirty="0"/>
              <a:t> </a:t>
            </a:r>
            <a:r>
              <a:rPr lang="en-IN" dirty="0"/>
              <a:t>SENSE </a:t>
            </a:r>
            <a:r>
              <a:rPr spc="-10" dirty="0"/>
              <a:t>AMPLIFIER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3FA47-5178-39B9-D006-8C1A4058B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200" y="1143000"/>
            <a:ext cx="6172200" cy="426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424E1-B197-E55A-F805-213923AFB676}"/>
              </a:ext>
            </a:extLst>
          </p:cNvPr>
          <p:cNvSpPr txBox="1"/>
          <p:nvPr/>
        </p:nvSpPr>
        <p:spPr>
          <a:xfrm>
            <a:off x="3337629" y="5530334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6T SRAM CELL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3965B-5704-F92B-2A77-706526E72742}"/>
              </a:ext>
            </a:extLst>
          </p:cNvPr>
          <p:cNvSpPr txBox="1"/>
          <p:nvPr/>
        </p:nvSpPr>
        <p:spPr>
          <a:xfrm>
            <a:off x="3276600" y="373559"/>
            <a:ext cx="1953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6T SRAM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381000"/>
            <a:ext cx="55797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6T SRAM</a:t>
            </a:r>
            <a:endParaRPr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6C89F-23D7-58C7-EF61-57C27B339572}"/>
              </a:ext>
            </a:extLst>
          </p:cNvPr>
          <p:cNvSpPr txBox="1"/>
          <p:nvPr/>
        </p:nvSpPr>
        <p:spPr>
          <a:xfrm>
            <a:off x="1066104" y="1219200"/>
            <a:ext cx="73913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6T SRAM cell schematic widely used in memory design.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two cross-coupled inverters (M3-M5 and M4-M6) forming a latch.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and M2 are access transistors controlled by the word line (WL).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lines (BL and BLB) are used for reading and writing data into the cell.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AA54DB-5D8E-D265-9661-0117D7FF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09CB167-774B-F839-B5DF-3877FE0AEE3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50954F-277B-6023-A8CB-883EFED1AAC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33E3C68-C84F-A1E9-69E6-A5004920A4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-267424"/>
            <a:ext cx="7999323" cy="1067189"/>
          </a:xfrm>
          <a:prstGeom prst="rect">
            <a:avLst/>
          </a:prstGeom>
        </p:spPr>
        <p:txBody>
          <a:bodyPr vert="horz" wrap="square" lIns="0" tIns="569188" rIns="0" bIns="0" rtlCol="0">
            <a:spAutoFit/>
          </a:bodyPr>
          <a:lstStyle/>
          <a:p>
            <a:pPr marL="341630" marR="5080" algn="ctr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LATCH TYPE SRAM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CD27C7-C933-0799-0D92-8991F7A5A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" r="8491" b="2000"/>
          <a:stretch/>
        </p:blipFill>
        <p:spPr>
          <a:xfrm>
            <a:off x="1143000" y="914789"/>
            <a:ext cx="6400800" cy="44192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7C7BB4-E1E0-1B4D-BBAB-F6C067780641}"/>
              </a:ext>
            </a:extLst>
          </p:cNvPr>
          <p:cNvSpPr txBox="1"/>
          <p:nvPr/>
        </p:nvSpPr>
        <p:spPr>
          <a:xfrm>
            <a:off x="2567305" y="5564047"/>
            <a:ext cx="323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Latch type sense amplifier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062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-152400"/>
            <a:ext cx="7999323" cy="950619"/>
          </a:xfrm>
          <a:prstGeom prst="rect">
            <a:avLst/>
          </a:prstGeom>
        </p:spPr>
        <p:txBody>
          <a:bodyPr vert="horz" wrap="square" lIns="0" tIns="453745" rIns="0" bIns="0" rtlCol="0">
            <a:spAutoFit/>
          </a:bodyPr>
          <a:lstStyle/>
          <a:p>
            <a:pPr marL="2345690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LATCH TYPE SRAM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30247" y="1235813"/>
            <a:ext cx="6682105" cy="47519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Cross-coupled NM1 and NM2 form a latch to amplify bit line differences.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endParaRPr lang="en-US" sz="28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PM3 and PM4 pre charge OUT and OUTB when SE is low.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endParaRPr lang="en-US" sz="28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NM5 acts as a current source enabling sensing when SE is high.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endParaRPr lang="en-US" sz="28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Latch-type SRAM stores data using latches for faster, low-power access.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1476" y="350265"/>
            <a:ext cx="53213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READ OPERATION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47471" y="1373504"/>
            <a:ext cx="7867650" cy="4828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Type: This is a differential sense amplifier circuit for SRAM.</a:t>
            </a:r>
          </a:p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Function: It amplifies small voltage differences between BL and BLB lines.</a:t>
            </a:r>
          </a:p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Structure: It has cross-coupled inverters and SE-controlled PMOS/NMOS switches.</a:t>
            </a:r>
          </a:p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521970" marR="5080" indent="-514350" algn="just">
              <a:lnSpc>
                <a:spcPct val="100000"/>
              </a:lnSpc>
              <a:spcBef>
                <a:spcPts val="95"/>
              </a:spcBef>
              <a:buSzPct val="96428"/>
              <a:buFont typeface="+mj-lt"/>
              <a:buAutoNum type="arabicPeriod"/>
              <a:tabLst>
                <a:tab pos="269875" algn="l"/>
                <a:tab pos="293370" algn="l"/>
                <a:tab pos="3025775" algn="l"/>
                <a:tab pos="4015104" algn="l"/>
                <a:tab pos="4412615" algn="l"/>
                <a:tab pos="5657850" algn="l"/>
                <a:tab pos="757682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Operation: Activating SE triggers fast sensing and full-swing output generation.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E4F470-E6FD-B37C-227A-B426C74F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702FFA5-D18A-79BF-628A-089FFD8E7E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9641" y="206037"/>
            <a:ext cx="7999323" cy="621887"/>
          </a:xfrm>
          <a:prstGeom prst="rect">
            <a:avLst/>
          </a:prstGeom>
        </p:spPr>
        <p:txBody>
          <a:bodyPr vert="horz" wrap="square" lIns="0" tIns="128193" rIns="0" bIns="0" rtlCol="0">
            <a:spAutoFit/>
          </a:bodyPr>
          <a:lstStyle/>
          <a:p>
            <a:pPr marL="2520315" algn="l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RESULTS </a:t>
            </a:r>
            <a:endParaRPr spc="-3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6D42C3-653D-DE36-CCE6-AC74BF585CD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1857116-9FFE-90E5-D08C-5BBFD5E3A15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76685-787C-D55E-1ECA-A50CEFC7D988}"/>
              </a:ext>
            </a:extLst>
          </p:cNvPr>
          <p:cNvSpPr txBox="1"/>
          <p:nvPr/>
        </p:nvSpPr>
        <p:spPr>
          <a:xfrm>
            <a:off x="685800" y="1170747"/>
            <a:ext cx="80937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Figures 1, 2, and 3, the proposed design was successfully implemented and simulated using the Cadence tool.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4:Illustrates the schematic of the latch-based SRAM cell.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5:Presents the transient response, confirming proper functionality and stability.</a:t>
            </a:r>
          </a:p>
          <a:p>
            <a:pPr marL="4572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6:Shows the Pre charge waveforms, validating accurate memory operations.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results demonstrate reliable performance aligned with the design objectives.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220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2770-50D7-45FF-8F87-416967F6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927" y="457200"/>
            <a:ext cx="6844145" cy="492443"/>
          </a:xfrm>
        </p:spPr>
        <p:txBody>
          <a:bodyPr/>
          <a:lstStyle/>
          <a:p>
            <a:r>
              <a:rPr lang="en-IN" dirty="0"/>
              <a:t>DIFFERENT TOPOLOGIES OF SRAM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EE9E9-7E6E-41E6-8C81-C0D41C265BEA}"/>
              </a:ext>
            </a:extLst>
          </p:cNvPr>
          <p:cNvSpPr txBox="1"/>
          <p:nvPr/>
        </p:nvSpPr>
        <p:spPr>
          <a:xfrm>
            <a:off x="609599" y="1524000"/>
            <a:ext cx="792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 topologies of SRAM, 6T, 7T and 8T are constructed in order to compare the performance analysis.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schematics of the various SRAM topologies (6T, 7T and 8T) that are simulated by the Cadence Virtuoso tool.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199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904795-1B46-3937-8198-38EF5CD3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7FC23F8-EB48-8902-09E6-F851BBBCB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77973"/>
            <a:ext cx="5001310" cy="621887"/>
          </a:xfrm>
          <a:prstGeom prst="rect">
            <a:avLst/>
          </a:prstGeom>
        </p:spPr>
        <p:txBody>
          <a:bodyPr vert="horz" wrap="square" lIns="0" tIns="128193" rIns="0" bIns="0" rtlCol="0">
            <a:spAutoFit/>
          </a:bodyPr>
          <a:lstStyle/>
          <a:p>
            <a:pPr marL="2520315" algn="l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6T SRAM</a:t>
            </a:r>
            <a:endParaRPr spc="-3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1B7588E-A239-0C26-98F0-1D76354FF67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306813B-9B3E-CA85-BDF1-4E753B5B43A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90ABD-9A52-F670-4C0F-1110E9EF255D}"/>
              </a:ext>
            </a:extLst>
          </p:cNvPr>
          <p:cNvSpPr txBox="1"/>
          <p:nvPr/>
        </p:nvSpPr>
        <p:spPr>
          <a:xfrm>
            <a:off x="3374343" y="5620434"/>
            <a:ext cx="2390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6T SRAM CELL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8" name="Image 8">
            <a:extLst>
              <a:ext uri="{FF2B5EF4-FFF2-40B4-BE49-F238E27FC236}">
                <a16:creationId xmlns:a16="http://schemas.microsoft.com/office/drawing/2014/main" id="{75A1B1D8-8088-42A4-9044-5DA5900475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066801"/>
            <a:ext cx="6248399" cy="435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24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6600" y="214886"/>
            <a:ext cx="3970402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Output of SRAM</a:t>
            </a:r>
            <a:br>
              <a:rPr lang="en-US" dirty="0"/>
            </a:b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6F97C4-565D-5656-CF3B-2685EF38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1"/>
            <a:ext cx="9144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D7EE-DF82-4D67-B2BF-81D48FBA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368" y="76200"/>
            <a:ext cx="4837862" cy="492443"/>
          </a:xfrm>
        </p:spPr>
        <p:txBody>
          <a:bodyPr/>
          <a:lstStyle/>
          <a:p>
            <a:r>
              <a:rPr lang="en-IN" dirty="0"/>
              <a:t>Read operation of 6T SRAM</a:t>
            </a:r>
          </a:p>
        </p:txBody>
      </p:sp>
      <p:pic>
        <p:nvPicPr>
          <p:cNvPr id="3" name="Image 9">
            <a:extLst>
              <a:ext uri="{FF2B5EF4-FFF2-40B4-BE49-F238E27FC236}">
                <a16:creationId xmlns:a16="http://schemas.microsoft.com/office/drawing/2014/main" id="{BA47B1B3-2337-4ED5-A7B2-8BECA5006C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762000"/>
            <a:ext cx="769619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89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A8AE-3451-40D1-A45E-177094A9F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76200"/>
            <a:ext cx="4914062" cy="492443"/>
          </a:xfrm>
        </p:spPr>
        <p:txBody>
          <a:bodyPr/>
          <a:lstStyle/>
          <a:p>
            <a:r>
              <a:rPr lang="en-IN" dirty="0"/>
              <a:t>Write operation of 6T SRAM</a:t>
            </a:r>
          </a:p>
        </p:txBody>
      </p:sp>
      <p:pic>
        <p:nvPicPr>
          <p:cNvPr id="3" name="Image 10">
            <a:extLst>
              <a:ext uri="{FF2B5EF4-FFF2-40B4-BE49-F238E27FC236}">
                <a16:creationId xmlns:a16="http://schemas.microsoft.com/office/drawing/2014/main" id="{20DAF036-32B5-46C7-A297-2ABAF526F7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762000"/>
            <a:ext cx="7848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00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5277-7537-4100-BCD0-8B461573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069" y="304800"/>
            <a:ext cx="1789862" cy="492443"/>
          </a:xfrm>
        </p:spPr>
        <p:txBody>
          <a:bodyPr/>
          <a:lstStyle/>
          <a:p>
            <a:r>
              <a:rPr lang="en-IN" dirty="0"/>
              <a:t>7T SRAM</a:t>
            </a:r>
          </a:p>
        </p:txBody>
      </p:sp>
      <p:pic>
        <p:nvPicPr>
          <p:cNvPr id="3" name="Image 13">
            <a:extLst>
              <a:ext uri="{FF2B5EF4-FFF2-40B4-BE49-F238E27FC236}">
                <a16:creationId xmlns:a16="http://schemas.microsoft.com/office/drawing/2014/main" id="{D01B862E-04FE-4FB0-9CAA-E8141C6A64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990600"/>
            <a:ext cx="7391399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23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991E-EC11-4D35-90DA-0E3810C9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76200"/>
            <a:ext cx="4761662" cy="492443"/>
          </a:xfrm>
        </p:spPr>
        <p:txBody>
          <a:bodyPr/>
          <a:lstStyle/>
          <a:p>
            <a:r>
              <a:rPr lang="en-IN" dirty="0"/>
              <a:t>Read operation of 7T SRAM</a:t>
            </a:r>
          </a:p>
        </p:txBody>
      </p:sp>
      <p:pic>
        <p:nvPicPr>
          <p:cNvPr id="3" name="Image 14">
            <a:extLst>
              <a:ext uri="{FF2B5EF4-FFF2-40B4-BE49-F238E27FC236}">
                <a16:creationId xmlns:a16="http://schemas.microsoft.com/office/drawing/2014/main" id="{809A04B0-2D62-483B-B4CB-F324098075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762000"/>
            <a:ext cx="761999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5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74CD-1F84-427E-9902-C120BAE9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04800"/>
            <a:ext cx="5124032" cy="685800"/>
          </a:xfrm>
        </p:spPr>
        <p:txBody>
          <a:bodyPr/>
          <a:lstStyle/>
          <a:p>
            <a:r>
              <a:rPr lang="en-IN" dirty="0"/>
              <a:t>Write operation of 7T SRAM</a:t>
            </a:r>
          </a:p>
        </p:txBody>
      </p:sp>
      <p:pic>
        <p:nvPicPr>
          <p:cNvPr id="3" name="Image 15">
            <a:extLst>
              <a:ext uri="{FF2B5EF4-FFF2-40B4-BE49-F238E27FC236}">
                <a16:creationId xmlns:a16="http://schemas.microsoft.com/office/drawing/2014/main" id="{342F0B6C-B8E3-4A0B-98DD-9F0D533199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990600"/>
            <a:ext cx="7924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42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6AAF-DA09-4C2C-96BD-13FAC4D3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968" y="287178"/>
            <a:ext cx="1866062" cy="492443"/>
          </a:xfrm>
        </p:spPr>
        <p:txBody>
          <a:bodyPr/>
          <a:lstStyle/>
          <a:p>
            <a:r>
              <a:rPr lang="en-IN" dirty="0"/>
              <a:t>8T SRAM</a:t>
            </a:r>
          </a:p>
        </p:txBody>
      </p:sp>
      <p:pic>
        <p:nvPicPr>
          <p:cNvPr id="3" name="Image 17">
            <a:extLst>
              <a:ext uri="{FF2B5EF4-FFF2-40B4-BE49-F238E27FC236}">
                <a16:creationId xmlns:a16="http://schemas.microsoft.com/office/drawing/2014/main" id="{6655447B-FEDD-4942-B230-99E9785995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990600"/>
            <a:ext cx="754379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4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E48C-A001-474D-85F4-5B07D67F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28600"/>
            <a:ext cx="4837862" cy="492443"/>
          </a:xfrm>
        </p:spPr>
        <p:txBody>
          <a:bodyPr/>
          <a:lstStyle/>
          <a:p>
            <a:r>
              <a:rPr lang="en-IN" dirty="0"/>
              <a:t>Read operation of 8T SRAM</a:t>
            </a:r>
          </a:p>
        </p:txBody>
      </p:sp>
      <p:pic>
        <p:nvPicPr>
          <p:cNvPr id="3" name="Image 18">
            <a:extLst>
              <a:ext uri="{FF2B5EF4-FFF2-40B4-BE49-F238E27FC236}">
                <a16:creationId xmlns:a16="http://schemas.microsoft.com/office/drawing/2014/main" id="{F38A7DCC-6345-4CD3-85FA-687CABF5EDE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838200"/>
            <a:ext cx="7772400" cy="550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07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2D99-2CA5-4304-B7BB-941EEE4A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52400"/>
            <a:ext cx="4914062" cy="492443"/>
          </a:xfrm>
        </p:spPr>
        <p:txBody>
          <a:bodyPr/>
          <a:lstStyle/>
          <a:p>
            <a:r>
              <a:rPr lang="en-IN" dirty="0"/>
              <a:t>Write operation of 8T SRAM</a:t>
            </a:r>
          </a:p>
        </p:txBody>
      </p:sp>
      <p:pic>
        <p:nvPicPr>
          <p:cNvPr id="3" name="Image 19">
            <a:extLst>
              <a:ext uri="{FF2B5EF4-FFF2-40B4-BE49-F238E27FC236}">
                <a16:creationId xmlns:a16="http://schemas.microsoft.com/office/drawing/2014/main" id="{2748B769-21CC-4929-8881-E70ABD3A3A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990600"/>
            <a:ext cx="784859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6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2338" y="87020"/>
            <a:ext cx="7999323" cy="630146"/>
          </a:xfrm>
          <a:prstGeom prst="rect">
            <a:avLst/>
          </a:prstGeom>
        </p:spPr>
        <p:txBody>
          <a:bodyPr vert="horz" wrap="square" lIns="0" tIns="136372" rIns="0" bIns="0" rtlCol="0">
            <a:spAutoFit/>
          </a:bodyPr>
          <a:lstStyle/>
          <a:p>
            <a:pPr marL="236601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Latch Type SRAM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EA24EF-8068-5415-FD37-A63A7937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59" r="11668"/>
          <a:stretch/>
        </p:blipFill>
        <p:spPr>
          <a:xfrm>
            <a:off x="0" y="990600"/>
            <a:ext cx="9144000" cy="4495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2B660-1195-2524-2183-918AC10B6987}"/>
              </a:ext>
            </a:extLst>
          </p:cNvPr>
          <p:cNvSpPr txBox="1"/>
          <p:nvPr/>
        </p:nvSpPr>
        <p:spPr>
          <a:xfrm>
            <a:off x="3541914" y="5709498"/>
            <a:ext cx="3230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Latch type sense amplifier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2338" y="87020"/>
            <a:ext cx="7999323" cy="638482"/>
          </a:xfrm>
          <a:prstGeom prst="rect">
            <a:avLst/>
          </a:prstGeom>
        </p:spPr>
        <p:txBody>
          <a:bodyPr vert="horz" wrap="square" lIns="0" tIns="144627" rIns="0" bIns="0" rtlCol="0">
            <a:spAutoFit/>
          </a:bodyPr>
          <a:lstStyle/>
          <a:p>
            <a:pPr marL="141414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Output of Latch type SRAM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28725"/>
            <a:ext cx="9143999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2338" y="87020"/>
            <a:ext cx="7999323" cy="638482"/>
          </a:xfrm>
          <a:prstGeom prst="rect">
            <a:avLst/>
          </a:prstGeom>
        </p:spPr>
        <p:txBody>
          <a:bodyPr vert="horz" wrap="square" lIns="0" tIns="144627" rIns="0" bIns="0" rtlCol="0">
            <a:spAutoFit/>
          </a:bodyPr>
          <a:lstStyle/>
          <a:p>
            <a:pPr marL="141414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Pre-Charge circuit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0" y="1219200"/>
            <a:ext cx="914399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05200" y="5791200"/>
            <a:ext cx="2486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Pre-Charge circuit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885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7999323" cy="638482"/>
          </a:xfrm>
          <a:prstGeom prst="rect">
            <a:avLst/>
          </a:prstGeom>
        </p:spPr>
        <p:txBody>
          <a:bodyPr vert="horz" wrap="square" lIns="0" tIns="144627" rIns="0" bIns="0" rtlCol="0">
            <a:spAutoFit/>
          </a:bodyPr>
          <a:lstStyle/>
          <a:p>
            <a:pPr marL="1414145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Pre-charge 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1513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457200"/>
            <a:ext cx="2648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7324090" cy="30540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4" marR="635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The sense amplifier boosts small voltage differences for fast and accurate memory reads.</a:t>
            </a:r>
          </a:p>
          <a:p>
            <a:pPr marL="469264" marR="635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699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69264" marR="635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It enhances speed, stability, and energy efficiency during read and write operations. Overall, it is vital for improving the performance and reliability of memory systems.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33769E-BEFD-CCDE-0FD1-20BDC447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AD4E671-91D7-7D80-0AB7-5994AA69C67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F4603A8-40A7-DBF3-0840-BB4F280DA04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377DF70-3130-4A9E-2927-A3D72F48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72534"/>
            <a:ext cx="1905000" cy="492443"/>
          </a:xfrm>
        </p:spPr>
        <p:txBody>
          <a:bodyPr/>
          <a:lstStyle/>
          <a:p>
            <a:pPr algn="ctr"/>
            <a:r>
              <a:rPr lang="en-US" dirty="0"/>
              <a:t>Progress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676E1-DDCA-9BE0-A8D3-20187381BEC4}"/>
              </a:ext>
            </a:extLst>
          </p:cNvPr>
          <p:cNvSpPr txBox="1"/>
          <p:nvPr/>
        </p:nvSpPr>
        <p:spPr>
          <a:xfrm>
            <a:off x="685800" y="1075672"/>
            <a:ext cx="7620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simulated a Sense Amplifier in Cadence Virtuoso.  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functionality through DC and transient analysis.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variability checks using corner and Monte Carlo simulations.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Layout, DRC/LVS, and performance comparison with existing designs are upcoming.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240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7154" y="676478"/>
            <a:ext cx="25793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0247" y="1901444"/>
            <a:ext cx="7426325" cy="3005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algn="just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G. Poshmallu ,R. Radha, J. Manasa, R. Pruthvi, “Estimation Of  Delay And Power Analysis Of Sense Amplifiers ” Publish year-2020</a:t>
            </a:r>
          </a:p>
          <a:p>
            <a:pPr marL="457200" indent="-457200" algn="just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endParaRPr lang="en-IN" sz="24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Vyshna P, Dr. Jinsa Kuruvilla, “Design Of Sense Amplifier For SRAM With Low Consumption And High Stability” Publish year-June 2019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59089B-9C1B-1366-4639-99D344A4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95203E9-B86B-3A87-7513-732A227EA7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ECE,</a:t>
            </a:r>
            <a:r>
              <a:rPr spc="-25" dirty="0"/>
              <a:t> </a:t>
            </a:r>
            <a:r>
              <a:rPr spc="-20" dirty="0"/>
              <a:t>SDMCET,</a:t>
            </a:r>
            <a:r>
              <a:rPr spc="-25" dirty="0"/>
              <a:t> </a:t>
            </a:r>
            <a:r>
              <a:rPr spc="-10" dirty="0"/>
              <a:t>Dharwad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EE0140-61D1-9999-B578-672334C23AD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C46661B-C9DF-91F5-DA4B-D9EA9C3B27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7698" y="2987751"/>
            <a:ext cx="3310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THANK</a:t>
            </a:r>
            <a:r>
              <a:rPr sz="4400" spc="-200" dirty="0"/>
              <a:t> </a:t>
            </a:r>
            <a:r>
              <a:rPr sz="4400" spc="-25" dirty="0"/>
              <a:t>YOU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153463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1126</Words>
  <Application>Microsoft Office PowerPoint</Application>
  <PresentationFormat>On-screen Show (4:3)</PresentationFormat>
  <Paragraphs>181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Arial MT</vt:lpstr>
      <vt:lpstr>Calibri</vt:lpstr>
      <vt:lpstr>Times New Roman</vt:lpstr>
      <vt:lpstr>Office Theme</vt:lpstr>
      <vt:lpstr>SDM COLLEGE OF ENGINEERING AND TECHNOLOGY, Dharwad-580002</vt:lpstr>
      <vt:lpstr>CONTENTS</vt:lpstr>
      <vt:lpstr>INTRODUCTION</vt:lpstr>
      <vt:lpstr>MOTIVATION</vt:lpstr>
      <vt:lpstr>OBJECTIVES</vt:lpstr>
      <vt:lpstr>LITERATURE SURVEY</vt:lpstr>
      <vt:lpstr>SIGNIFICANCE OF USING SENSE AMPLIFIER</vt:lpstr>
      <vt:lpstr>SIGNIFICANCE OF USING SENSE AMPLIFIER</vt:lpstr>
      <vt:lpstr>PowerPoint Presentation</vt:lpstr>
      <vt:lpstr>6T SRAM</vt:lpstr>
      <vt:lpstr>LATCH TYPE SRAM</vt:lpstr>
      <vt:lpstr>LATCH TYPE SRAM</vt:lpstr>
      <vt:lpstr>READ OPERATION</vt:lpstr>
      <vt:lpstr>RESULTS </vt:lpstr>
      <vt:lpstr>DIFFERENT TOPOLOGIES OF SRAM</vt:lpstr>
      <vt:lpstr>6T SRAM</vt:lpstr>
      <vt:lpstr>Output of SRAM </vt:lpstr>
      <vt:lpstr>Read operation of 6T SRAM</vt:lpstr>
      <vt:lpstr>Write operation of 6T SRAM</vt:lpstr>
      <vt:lpstr>7T SRAM</vt:lpstr>
      <vt:lpstr>Read operation of 7T SRAM</vt:lpstr>
      <vt:lpstr>Write operation of 7T SRAM</vt:lpstr>
      <vt:lpstr>8T SRAM</vt:lpstr>
      <vt:lpstr>Read operation of 8T SRAM</vt:lpstr>
      <vt:lpstr>Write operation of 8T SRAM</vt:lpstr>
      <vt:lpstr>Latch Type SRAM</vt:lpstr>
      <vt:lpstr>Output of Latch type SRAM</vt:lpstr>
      <vt:lpstr>Pre-Charge circuit</vt:lpstr>
      <vt:lpstr>Pre-charge </vt:lpstr>
      <vt:lpstr>CONCLUSION</vt:lpstr>
      <vt:lpstr>Progress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Diksha Bevinakatti</dc:creator>
  <cp:lastModifiedBy>Keerti guddadavar</cp:lastModifiedBy>
  <cp:revision>12</cp:revision>
  <dcterms:created xsi:type="dcterms:W3CDTF">2025-04-23T08:14:46Z</dcterms:created>
  <dcterms:modified xsi:type="dcterms:W3CDTF">2025-06-05T16:03:20Z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2025-04-23T00:00:00Z</vt:filetime>
  </property>
  <property fmtid="{D5CDD505-2E9C-101B-9397-08002B2CF9AE}" pid="5" name="Producer">
    <vt:lpwstr>Microsoft® PowerPoint® 2021</vt:lpwstr>
  </property>
</Properties>
</file>